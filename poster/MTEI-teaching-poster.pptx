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6576000" cy="27432000"/>
  <p:notesSz cx="27432000" cy="365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56a86fb5-fc8c-5866-adb1-dfde8d3de3fa/scratchpad/assets/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0" cy="2743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783080"/>
            <a:ext cx="2487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B3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Production-Quality Interactive Course Labs, Built with AI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822960" y="4572000"/>
            <a:ext cx="2487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coding agents let one instructor ship a fully interactive, zero-install course platform — SYSEN 5470: Network Science &amp; Applications for Systems Engineering</a:t>
            </a:r>
            <a:endParaRPr lang="en-US" sz="2600" dirty="0"/>
          </a:p>
        </p:txBody>
      </p:sp>
      <p:pic>
        <p:nvPicPr>
          <p:cNvPr id="5" name="Image 1" descr="/tmp/claude-0/-home-user/56a86fb5-fc8c-5866-adb1-dfde8d3de3fa/scratchpad/assets/instruct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0" y="1965960"/>
            <a:ext cx="1920240" cy="1920240"/>
          </a:xfrm>
          <a:prstGeom prst="ellipse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986480" y="21488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Fraser, Ph.D.</a:t>
            </a:r>
            <a:endParaRPr lang="en-US" sz="3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Engineering · Cornell University</a:t>
            </a:r>
            <a:endParaRPr lang="en-US" sz="3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tmf77@cornell.edu · timothyfraser.com/netsci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685800" y="5440680"/>
            <a:ext cx="66751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914400" y="54406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3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400" dirty="0"/>
          </a:p>
        </p:txBody>
      </p:sp>
      <p:sp>
        <p:nvSpPr>
          <p:cNvPr id="9" name="Text 5"/>
          <p:cNvSpPr/>
          <p:nvPr/>
        </p:nvSpPr>
        <p:spPr>
          <a:xfrm>
            <a:off x="3154680" y="5605272"/>
            <a:ext cx="3977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labs, live on the course site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7818120" y="5440680"/>
            <a:ext cx="66751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046720" y="54406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3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6400" dirty="0"/>
          </a:p>
        </p:txBody>
      </p:sp>
      <p:sp>
        <p:nvSpPr>
          <p:cNvPr id="12" name="Text 8"/>
          <p:cNvSpPr/>
          <p:nvPr/>
        </p:nvSpPr>
        <p:spPr>
          <a:xfrm>
            <a:off x="10287000" y="5605272"/>
            <a:ext cx="3977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planted-story project datasets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14950440" y="5440680"/>
            <a:ext cx="66751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15179040" y="54406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3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15" name="Text 11"/>
          <p:cNvSpPr/>
          <p:nvPr/>
        </p:nvSpPr>
        <p:spPr>
          <a:xfrm>
            <a:off x="17419320" y="5605272"/>
            <a:ext cx="3977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taught in lockstep (R + Python)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22082760" y="5440680"/>
            <a:ext cx="66751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2311360" y="54406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3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400" dirty="0"/>
          </a:p>
        </p:txBody>
      </p:sp>
      <p:sp>
        <p:nvSpPr>
          <p:cNvPr id="18" name="Text 14"/>
          <p:cNvSpPr/>
          <p:nvPr/>
        </p:nvSpPr>
        <p:spPr>
          <a:xfrm>
            <a:off x="24551640" y="5605272"/>
            <a:ext cx="3977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preloaded in the browser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29215080" y="5440680"/>
            <a:ext cx="66751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9443680" y="54406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3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6400" dirty="0"/>
          </a:p>
        </p:txBody>
      </p:sp>
      <p:sp>
        <p:nvSpPr>
          <p:cNvPr id="21" name="Text 17"/>
          <p:cNvSpPr/>
          <p:nvPr/>
        </p:nvSpPr>
        <p:spPr>
          <a:xfrm>
            <a:off x="31683960" y="5605272"/>
            <a:ext cx="3977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servers, accounts, or hosting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685800" y="7452360"/>
            <a:ext cx="82296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005840" y="77266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B3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1005840" y="8412480"/>
            <a:ext cx="7589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learn networks by clicking, breaking, and rebuilding them — not by reading PDFs. </a:t>
            </a:r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one production-quality interactive lab takes weeks of web engineering: simulation code, instant-feedback questions, mobile support. A full course needs dozens — plus datasets, codebooks, and teaching code in two languages. That is months of engineering no teaching schedule allows.</a:t>
            </a:r>
            <a:endParaRPr lang="en-US" sz="2250" dirty="0"/>
          </a:p>
        </p:txBody>
      </p:sp>
      <p:sp>
        <p:nvSpPr>
          <p:cNvPr id="25" name="Shape 21"/>
          <p:cNvSpPr/>
          <p:nvPr/>
        </p:nvSpPr>
        <p:spPr>
          <a:xfrm>
            <a:off x="685800" y="12390120"/>
            <a:ext cx="8229600" cy="1170432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5875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1005840" y="12664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B3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WORKFLOW</a:t>
            </a:r>
            <a:endParaRPr lang="en-US" sz="3000" dirty="0"/>
          </a:p>
        </p:txBody>
      </p:sp>
      <p:sp>
        <p:nvSpPr>
          <p:cNvPr id="27" name="Text 23"/>
          <p:cNvSpPr/>
          <p:nvPr/>
        </p:nvSpPr>
        <p:spPr>
          <a:xfrm>
            <a:off x="1005840" y="1324051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instructor directs and reviews; AI agents do the engineering.</a:t>
            </a:r>
            <a:endParaRPr lang="en-US" sz="2100" dirty="0"/>
          </a:p>
        </p:txBody>
      </p:sp>
      <p:sp>
        <p:nvSpPr>
          <p:cNvPr id="28" name="Shape 24"/>
          <p:cNvSpPr/>
          <p:nvPr/>
        </p:nvSpPr>
        <p:spPr>
          <a:xfrm>
            <a:off x="1033272" y="14045184"/>
            <a:ext cx="566928" cy="566928"/>
          </a:xfrm>
          <a:prstGeom prst="ellipse">
            <a:avLst/>
          </a:prstGeom>
          <a:solidFill>
            <a:srgbClr val="B31B1B"/>
          </a:solidFill>
          <a:ln w="12700">
            <a:solidFill>
              <a:srgbClr val="B31B1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33272" y="14045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30" name="Text 26"/>
          <p:cNvSpPr/>
          <p:nvPr/>
        </p:nvSpPr>
        <p:spPr>
          <a:xfrm>
            <a:off x="1801368" y="1399032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conventions once — </a:t>
            </a:r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agent "skills" capture teaching style, dataset standards, and the course glossary.</a:t>
            </a:r>
            <a:endParaRPr lang="en-US" sz="2100" dirty="0"/>
          </a:p>
        </p:txBody>
      </p:sp>
      <p:sp>
        <p:nvSpPr>
          <p:cNvPr id="31" name="Shape 27"/>
          <p:cNvSpPr/>
          <p:nvPr/>
        </p:nvSpPr>
        <p:spPr>
          <a:xfrm>
            <a:off x="1033272" y="15828264"/>
            <a:ext cx="566928" cy="566928"/>
          </a:xfrm>
          <a:prstGeom prst="ellipse">
            <a:avLst/>
          </a:prstGeom>
          <a:solidFill>
            <a:srgbClr val="B31B1B"/>
          </a:solidFill>
          <a:ln w="12700">
            <a:solidFill>
              <a:srgbClr val="B31B1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33272" y="15828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33" name="Text 29"/>
          <p:cNvSpPr/>
          <p:nvPr/>
        </p:nvSpPr>
        <p:spPr>
          <a:xfrm>
            <a:off x="1801368" y="1577340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each artifact — </a:t>
            </a:r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 page, a dataset generator, or a matched R + Python teaching script.</a:t>
            </a:r>
            <a:endParaRPr lang="en-US" sz="2100" dirty="0"/>
          </a:p>
        </p:txBody>
      </p:sp>
      <p:sp>
        <p:nvSpPr>
          <p:cNvPr id="34" name="Shape 30"/>
          <p:cNvSpPr/>
          <p:nvPr/>
        </p:nvSpPr>
        <p:spPr>
          <a:xfrm>
            <a:off x="1033272" y="17611344"/>
            <a:ext cx="566928" cy="566928"/>
          </a:xfrm>
          <a:prstGeom prst="ellipse">
            <a:avLst/>
          </a:prstGeom>
          <a:solidFill>
            <a:srgbClr val="B31B1B"/>
          </a:solidFill>
          <a:ln w="12700">
            <a:solidFill>
              <a:srgbClr val="B31B1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33272" y="17611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36" name="Text 32"/>
          <p:cNvSpPr/>
          <p:nvPr/>
        </p:nvSpPr>
        <p:spPr>
          <a:xfrm>
            <a:off x="1801368" y="1755648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automatically — </a:t>
            </a:r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Headless-browser tests; answer keys recomputed from the rendered page; R and Python outputs cross-checked to match.</a:t>
            </a:r>
            <a:endParaRPr lang="en-US" sz="2100" dirty="0"/>
          </a:p>
        </p:txBody>
      </p:sp>
      <p:sp>
        <p:nvSpPr>
          <p:cNvPr id="37" name="Shape 33"/>
          <p:cNvSpPr/>
          <p:nvPr/>
        </p:nvSpPr>
        <p:spPr>
          <a:xfrm>
            <a:off x="1033272" y="19394424"/>
            <a:ext cx="566928" cy="566928"/>
          </a:xfrm>
          <a:prstGeom prst="ellipse">
            <a:avLst/>
          </a:prstGeom>
          <a:solidFill>
            <a:srgbClr val="B31B1B"/>
          </a:solidFill>
          <a:ln w="12700">
            <a:solidFill>
              <a:srgbClr val="B31B1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033272" y="19394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39" name="Text 35"/>
          <p:cNvSpPr/>
          <p:nvPr/>
        </p:nvSpPr>
        <p:spPr>
          <a:xfrm>
            <a:off x="1801368" y="1933956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reviews — </a:t>
            </a:r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pedagogy, tone, and accuracy pass on every artifact before it ships.</a:t>
            </a:r>
            <a:endParaRPr lang="en-US" sz="2100" dirty="0"/>
          </a:p>
        </p:txBody>
      </p:sp>
      <p:sp>
        <p:nvSpPr>
          <p:cNvPr id="40" name="Shape 36"/>
          <p:cNvSpPr/>
          <p:nvPr/>
        </p:nvSpPr>
        <p:spPr>
          <a:xfrm>
            <a:off x="1033272" y="21177504"/>
            <a:ext cx="566928" cy="566928"/>
          </a:xfrm>
          <a:prstGeom prst="ellipse">
            <a:avLst/>
          </a:prstGeom>
          <a:solidFill>
            <a:srgbClr val="B31B1B"/>
          </a:solidFill>
          <a:ln w="12700">
            <a:solidFill>
              <a:srgbClr val="B31B1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033272" y="21177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42" name="Text 38"/>
          <p:cNvSpPr/>
          <p:nvPr/>
        </p:nvSpPr>
        <p:spPr>
          <a:xfrm>
            <a:off x="1801368" y="2112264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free &amp; static — </a:t>
            </a:r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hosting; CI rebuilds the student repo and AI study companion automatically.</a:t>
            </a:r>
            <a:endParaRPr lang="en-US" sz="2100" dirty="0"/>
          </a:p>
        </p:txBody>
      </p:sp>
      <p:sp>
        <p:nvSpPr>
          <p:cNvPr id="43" name="Text 39"/>
          <p:cNvSpPr/>
          <p:nvPr/>
        </p:nvSpPr>
        <p:spPr>
          <a:xfrm>
            <a:off x="1005840" y="229514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agentic AI coding tools (Claude Code). Every artifact is verified; none is hand-coded.</a:t>
            </a:r>
            <a:endParaRPr lang="en-US" sz="1850" dirty="0"/>
          </a:p>
        </p:txBody>
      </p:sp>
      <p:sp>
        <p:nvSpPr>
          <p:cNvPr id="44" name="Text 40"/>
          <p:cNvSpPr/>
          <p:nvPr/>
        </p:nvSpPr>
        <p:spPr>
          <a:xfrm>
            <a:off x="10287000" y="7406640"/>
            <a:ext cx="1691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B3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LABS, LIVE — EVERY ONE A MANIPULABLE ARTIFACT, NOT A PDF</a:t>
            </a:r>
            <a:endParaRPr lang="en-US" sz="3000" dirty="0"/>
          </a:p>
        </p:txBody>
      </p:sp>
      <p:sp>
        <p:nvSpPr>
          <p:cNvPr id="45" name="Shape 41"/>
          <p:cNvSpPr/>
          <p:nvPr/>
        </p:nvSpPr>
        <p:spPr>
          <a:xfrm>
            <a:off x="10840212" y="8051292"/>
            <a:ext cx="14895576" cy="9340596"/>
          </a:xfrm>
          <a:prstGeom prst="roundRect">
            <a:avLst>
              <a:gd name="adj" fmla="val 587"/>
            </a:avLst>
          </a:prstGeom>
          <a:solidFill>
            <a:srgbClr val="1A24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5400000">
              <a:srgbClr val="777777">
                <a:alpha val="35000"/>
              </a:srgbClr>
            </a:outerShdw>
          </a:effectLst>
        </p:spPr>
      </p:sp>
      <p:pic>
        <p:nvPicPr>
          <p:cNvPr id="46" name="Image 2" descr="/tmp/claude-0/-home-user/56a86fb5-fc8c-5866-adb1-dfde8d3de3fa/scratchpad/shots/lab-interact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8092440"/>
            <a:ext cx="14813280" cy="925830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9281160" y="17487900"/>
            <a:ext cx="1801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Case-study lab “Why does betweenness matter?” — </a:t>
            </a:r>
            <a:pPr indent="0" marL="0">
              <a:lnSpc>
                <a:spcPct val="108000"/>
              </a:lnSpc>
              <a:buNone/>
            </a:pPr>
            <a:r>
              <a:rPr lang="en-US" sz="2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 transit station and watch path lengths, components, and criticality shift live. Learning checks are recomputed from the rendered network, so answers can never drift.</a:t>
            </a:r>
            <a:endParaRPr lang="en-US" sz="2050" dirty="0"/>
          </a:p>
        </p:txBody>
      </p:sp>
      <p:sp>
        <p:nvSpPr>
          <p:cNvPr id="48" name="Shape 43"/>
          <p:cNvSpPr/>
          <p:nvPr/>
        </p:nvSpPr>
        <p:spPr>
          <a:xfrm>
            <a:off x="9971532" y="18201132"/>
            <a:ext cx="8129016" cy="5111496"/>
          </a:xfrm>
          <a:prstGeom prst="roundRect">
            <a:avLst>
              <a:gd name="adj" fmla="val 1073"/>
            </a:avLst>
          </a:prstGeom>
          <a:solidFill>
            <a:srgbClr val="1A24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5400000">
              <a:srgbClr val="777777">
                <a:alpha val="35000"/>
              </a:srgbClr>
            </a:outerShdw>
          </a:effectLst>
        </p:spPr>
      </p:sp>
      <p:pic>
        <p:nvPicPr>
          <p:cNvPr id="49" name="Image 3" descr="/tmp/claude-0/-home-user/56a86fb5-fc8c-5866-adb1-dfde8d3de3fa/scratchpad/shots/playground-pl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8242280"/>
            <a:ext cx="8046720" cy="5029200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18475452" y="18201132"/>
            <a:ext cx="8129016" cy="5111496"/>
          </a:xfrm>
          <a:prstGeom prst="roundRect">
            <a:avLst>
              <a:gd name="adj" fmla="val 1073"/>
            </a:avLst>
          </a:prstGeom>
          <a:solidFill>
            <a:srgbClr val="1A24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5400000">
              <a:srgbClr val="777777">
                <a:alpha val="35000"/>
              </a:srgbClr>
            </a:outerShdw>
          </a:effectLst>
        </p:spPr>
      </p:sp>
      <p:pic>
        <p:nvPicPr>
          <p:cNvPr id="51" name="Image 4" descr="/tmp/claude-0/-home-user/56a86fb5-fc8c-5866-adb1-dfde8d3de3fa/scratchpad/shots/visualizer-loa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6600" y="18242280"/>
            <a:ext cx="8046720" cy="502920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10012680" y="2340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In-browser R &amp; Python playgrounds </a:t>
            </a:r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(WebAssembly): real code, real plots, on the student’s own device — no install, no login.</a:t>
            </a:r>
            <a:endParaRPr lang="en-US" sz="1950" dirty="0"/>
          </a:p>
        </p:txBody>
      </p:sp>
      <p:sp>
        <p:nvSpPr>
          <p:cNvPr id="53" name="Text 46"/>
          <p:cNvSpPr/>
          <p:nvPr/>
        </p:nvSpPr>
        <p:spPr>
          <a:xfrm>
            <a:off x="18516600" y="2340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Visualizer: </a:t>
            </a:r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point-and-click failure cascades and counterfactuals — then export the runnable script that reproduces every click.</a:t>
            </a:r>
            <a:endParaRPr lang="en-US" sz="1950" dirty="0"/>
          </a:p>
        </p:txBody>
      </p:sp>
      <p:sp>
        <p:nvSpPr>
          <p:cNvPr id="54" name="Shape 47"/>
          <p:cNvSpPr/>
          <p:nvPr/>
        </p:nvSpPr>
        <p:spPr>
          <a:xfrm>
            <a:off x="27752040" y="7452360"/>
            <a:ext cx="813816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5875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55" name="Text 48"/>
          <p:cNvSpPr/>
          <p:nvPr/>
        </p:nvSpPr>
        <p:spPr>
          <a:xfrm>
            <a:off x="28072080" y="77266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B3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STUDENTS GET</a:t>
            </a:r>
            <a:endParaRPr lang="en-US" sz="3000" dirty="0"/>
          </a:p>
        </p:txBody>
      </p:sp>
      <p:sp>
        <p:nvSpPr>
          <p:cNvPr id="56" name="Text 49"/>
          <p:cNvSpPr/>
          <p:nvPr/>
        </p:nvSpPr>
        <p:spPr>
          <a:xfrm>
            <a:off x="28072080" y="8458200"/>
            <a:ext cx="74980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2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 &amp; Python in the browser — zero install, no accounts, works on any device.</a:t>
            </a:r>
            <a:endParaRPr lang="en-US" sz="2150" dirty="0"/>
          </a:p>
          <a:p>
            <a:pPr algn="l"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2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 that push back: remove a node, watch the metrics shift, get instant feedback.</a:t>
            </a:r>
            <a:endParaRPr lang="en-US" sz="2150" dirty="0"/>
          </a:p>
          <a:p>
            <a:pPr algn="l"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2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visually, then export a complete runnable script and keep going in code.</a:t>
            </a:r>
            <a:endParaRPr lang="en-US" sz="2150" dirty="0"/>
          </a:p>
          <a:p>
            <a:pPr algn="l" marL="177800" indent="-177800">
              <a:lnSpc>
                <a:spcPct val="108000"/>
              </a:lnSpc>
              <a:buSzPct val="100000"/>
              <a:buChar char="•"/>
            </a:pPr>
            <a:r>
              <a:rPr lang="en-US" sz="2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Socratic AI study companion that asks questions back instead of giving answers.</a:t>
            </a:r>
            <a:endParaRPr lang="en-US" sz="2150" dirty="0"/>
          </a:p>
        </p:txBody>
      </p:sp>
      <p:sp>
        <p:nvSpPr>
          <p:cNvPr id="57" name="Shape 50"/>
          <p:cNvSpPr/>
          <p:nvPr/>
        </p:nvSpPr>
        <p:spPr>
          <a:xfrm>
            <a:off x="27848052" y="12851892"/>
            <a:ext cx="3236976" cy="6909347"/>
          </a:xfrm>
          <a:prstGeom prst="roundRect">
            <a:avLst>
              <a:gd name="adj" fmla="val 1695"/>
            </a:avLst>
          </a:prstGeom>
          <a:solidFill>
            <a:srgbClr val="1A24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5400000">
              <a:srgbClr val="777777">
                <a:alpha val="35000"/>
              </a:srgbClr>
            </a:outerShdw>
          </a:effectLst>
        </p:spPr>
      </p:sp>
      <p:pic>
        <p:nvPicPr>
          <p:cNvPr id="58" name="Image 5" descr="/tmp/claude-0/-home-user/56a86fb5-fc8c-5866-adb1-dfde8d3de3fa/scratchpad/shots/phone-key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0" y="12893040"/>
            <a:ext cx="3154680" cy="6827051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31455360" y="13167360"/>
            <a:ext cx="4297680" cy="6369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on a phone.
</a:t>
            </a:r>
            <a:pPr indent="0" marL="0">
              <a:lnSpc>
                <a:spcPct val="110000"/>
              </a:lnSpc>
              <a:buNone/>
            </a:pPr>
            <a:r>
              <a:rPr lang="en-US" sz="2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tap-to-code block keyboard — D-pad cursor, undo/redo, and context-aware code chips — lets students write real code from the bus, the gym, or the back row.</a:t>
            </a:r>
            <a:endParaRPr lang="en-US" sz="2400" dirty="0"/>
          </a:p>
        </p:txBody>
      </p:sp>
      <p:sp>
        <p:nvSpPr>
          <p:cNvPr id="60" name="Shape 52"/>
          <p:cNvSpPr/>
          <p:nvPr/>
        </p:nvSpPr>
        <p:spPr>
          <a:xfrm>
            <a:off x="27752040" y="20391120"/>
            <a:ext cx="813816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61" name="Text 53"/>
          <p:cNvSpPr/>
          <p:nvPr/>
        </p:nvSpPr>
        <p:spPr>
          <a:xfrm>
            <a:off x="28072080" y="205922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B3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RIGHT NOW</a:t>
            </a:r>
            <a:endParaRPr lang="en-US" sz="3000" dirty="0"/>
          </a:p>
        </p:txBody>
      </p:sp>
      <p:pic>
        <p:nvPicPr>
          <p:cNvPr id="62" name="Image 6" descr="/tmp/claude-0/-home-user/56a86fb5-fc8c-5866-adb1-dfde8d3de3fa/scratchpad/assets/qr-s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43580" y="21351240"/>
            <a:ext cx="2286000" cy="2286000"/>
          </a:xfrm>
          <a:prstGeom prst="rect">
            <a:avLst/>
          </a:prstGeom>
        </p:spPr>
      </p:pic>
      <p:pic>
        <p:nvPicPr>
          <p:cNvPr id="63" name="Image 7" descr="/tmp/claude-0/-home-user/56a86fb5-fc8c-5866-adb1-dfde8d3de3fa/scratchpad/assets/qr-visualiz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12660" y="21351240"/>
            <a:ext cx="2286000" cy="2286000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27843480" y="236555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site</a:t>
            </a:r>
            <a:endParaRPr lang="en-US" sz="1900" dirty="0"/>
          </a:p>
        </p:txBody>
      </p:sp>
      <p:sp>
        <p:nvSpPr>
          <p:cNvPr id="65" name="Text 55"/>
          <p:cNvSpPr/>
          <p:nvPr/>
        </p:nvSpPr>
        <p:spPr>
          <a:xfrm>
            <a:off x="31912560" y="236555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Visualizer</a:t>
            </a:r>
            <a:endParaRPr lang="en-US" sz="1900" dirty="0"/>
          </a:p>
        </p:txBody>
      </p:sp>
      <p:sp>
        <p:nvSpPr>
          <p:cNvPr id="66" name="Text 56"/>
          <p:cNvSpPr/>
          <p:nvPr/>
        </p:nvSpPr>
        <p:spPr>
          <a:xfrm>
            <a:off x="685800" y="24551640"/>
            <a:ext cx="3520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synthetic project datasets, generated by AI under a strict codebook standard — </a:t>
            </a:r>
            <a:pPr algn="ctr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hides a “planted story” that survives naive analysis, and ships with R + Python loaders.</a:t>
            </a:r>
            <a:endParaRPr lang="en-US" sz="2200" dirty="0"/>
          </a:p>
        </p:txBody>
      </p:sp>
      <p:pic>
        <p:nvPicPr>
          <p:cNvPr id="67" name="Image 8" descr="/home/user/netsci/data/projects/amazon-last-mile/thum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5191720"/>
            <a:ext cx="1481328" cy="1481328"/>
          </a:xfrm>
          <a:prstGeom prst="rect">
            <a:avLst/>
          </a:prstGeom>
        </p:spPr>
      </p:pic>
      <p:pic>
        <p:nvPicPr>
          <p:cNvPr id="68" name="Image 9" descr="/home/user/netsci/data/projects/uber-manhattan/thum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1954" y="25191720"/>
            <a:ext cx="1481328" cy="1481328"/>
          </a:xfrm>
          <a:prstGeom prst="rect">
            <a:avLst/>
          </a:prstGeom>
        </p:spPr>
      </p:pic>
      <p:pic>
        <p:nvPicPr>
          <p:cNvPr id="69" name="Image 10" descr="/home/user/netsci/data/projects/semiconductor-supply/thum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8107" y="25191720"/>
            <a:ext cx="1481328" cy="1481328"/>
          </a:xfrm>
          <a:prstGeom prst="rect">
            <a:avLst/>
          </a:prstGeom>
        </p:spPr>
      </p:pic>
      <p:pic>
        <p:nvPicPr>
          <p:cNvPr id="70" name="Image 11" descr="/home/user/netsci/data/projects/aerospace-components/thu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44261" y="25191720"/>
            <a:ext cx="1481328" cy="1481328"/>
          </a:xfrm>
          <a:prstGeom prst="rect">
            <a:avLst/>
          </a:prstGeom>
        </p:spPr>
      </p:pic>
      <p:pic>
        <p:nvPicPr>
          <p:cNvPr id="71" name="Image 12" descr="/home/user/netsci/data/projects/mutualaid-quake/thum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0414" y="25191720"/>
            <a:ext cx="1481328" cy="1481328"/>
          </a:xfrm>
          <a:prstGeom prst="rect">
            <a:avLst/>
          </a:prstGeom>
        </p:spPr>
      </p:pic>
      <p:pic>
        <p:nvPicPr>
          <p:cNvPr id="72" name="Image 13" descr="/home/user/netsci/data/projects/financial-contagion/thum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16568" y="25191720"/>
            <a:ext cx="1481328" cy="1481328"/>
          </a:xfrm>
          <a:prstGeom prst="rect">
            <a:avLst/>
          </a:prstGeom>
        </p:spPr>
      </p:pic>
      <p:pic>
        <p:nvPicPr>
          <p:cNvPr id="73" name="Image 14" descr="/home/user/netsci/data/projects/airline-delays/thum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02722" y="25191720"/>
            <a:ext cx="1481328" cy="1481328"/>
          </a:xfrm>
          <a:prstGeom prst="rect">
            <a:avLst/>
          </a:prstGeom>
        </p:spPr>
      </p:pic>
      <p:pic>
        <p:nvPicPr>
          <p:cNvPr id="74" name="Image 15" descr="/home/user/netsci/data/projects/power-grid/thum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88875" y="25191720"/>
            <a:ext cx="1481328" cy="1481328"/>
          </a:xfrm>
          <a:prstGeom prst="rect">
            <a:avLst/>
          </a:prstGeom>
        </p:spPr>
      </p:pic>
      <p:pic>
        <p:nvPicPr>
          <p:cNvPr id="75" name="Image 16" descr="/home/user/netsci/data/projects/campus-contact/thum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175029" y="25191720"/>
            <a:ext cx="1481328" cy="1481328"/>
          </a:xfrm>
          <a:prstGeom prst="rect">
            <a:avLst/>
          </a:prstGeom>
        </p:spPr>
      </p:pic>
      <p:pic>
        <p:nvPicPr>
          <p:cNvPr id="76" name="Image 17" descr="/home/user/netsci/data/projects/opensource-deps/thumb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861182" y="25191720"/>
            <a:ext cx="1481328" cy="1481328"/>
          </a:xfrm>
          <a:prstGeom prst="rect">
            <a:avLst/>
          </a:prstGeom>
        </p:spPr>
      </p:pic>
      <p:pic>
        <p:nvPicPr>
          <p:cNvPr id="77" name="Image 18" descr="/home/user/netsci/data/projects/trade-commodity/thum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547336" y="25191720"/>
            <a:ext cx="1481328" cy="1481328"/>
          </a:xfrm>
          <a:prstGeom prst="rect">
            <a:avLst/>
          </a:prstGeom>
        </p:spPr>
      </p:pic>
      <p:pic>
        <p:nvPicPr>
          <p:cNvPr id="78" name="Image 19" descr="/home/user/netsci/data/projects/reorg-comms/thum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233490" y="25191720"/>
            <a:ext cx="1481328" cy="1481328"/>
          </a:xfrm>
          <a:prstGeom prst="rect">
            <a:avLst/>
          </a:prstGeom>
        </p:spPr>
      </p:pic>
      <p:pic>
        <p:nvPicPr>
          <p:cNvPr id="79" name="Image 20" descr="/home/user/netsci/data/projects/satellite-constellation/thumb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919643" y="25191720"/>
            <a:ext cx="1481328" cy="1481328"/>
          </a:xfrm>
          <a:prstGeom prst="rect">
            <a:avLst/>
          </a:prstGeom>
        </p:spPr>
      </p:pic>
      <p:pic>
        <p:nvPicPr>
          <p:cNvPr id="80" name="Image 21" descr="/home/user/netsci/data/projects/drone-components/thumb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605797" y="25191720"/>
            <a:ext cx="1481328" cy="1481328"/>
          </a:xfrm>
          <a:prstGeom prst="rect">
            <a:avLst/>
          </a:prstGeom>
        </p:spPr>
      </p:pic>
      <p:pic>
        <p:nvPicPr>
          <p:cNvPr id="81" name="Image 22" descr="/home/user/netsci/data/projects/transit-multimodal/thumb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291950" y="25191720"/>
            <a:ext cx="1481328" cy="1481328"/>
          </a:xfrm>
          <a:prstGeom prst="rect">
            <a:avLst/>
          </a:prstGeom>
        </p:spPr>
      </p:pic>
      <p:pic>
        <p:nvPicPr>
          <p:cNvPr id="82" name="Image 23" descr="/home/user/netsci/data/projects/satellite-supply-chain/thumb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978104" y="25191720"/>
            <a:ext cx="1481328" cy="1481328"/>
          </a:xfrm>
          <a:prstGeom prst="rect">
            <a:avLst/>
          </a:prstGeom>
        </p:spPr>
      </p:pic>
      <p:pic>
        <p:nvPicPr>
          <p:cNvPr id="83" name="Image 24" descr="/home/user/netsci/data/projects/aircraft-supply-chain/thumb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664258" y="25191720"/>
            <a:ext cx="1481328" cy="1481328"/>
          </a:xfrm>
          <a:prstGeom prst="rect">
            <a:avLst/>
          </a:prstGeom>
        </p:spPr>
      </p:pic>
      <p:pic>
        <p:nvPicPr>
          <p:cNvPr id="84" name="Image 25" descr="/home/user/netsci/data/projects/ups-ground-network/thumb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350411" y="25191720"/>
            <a:ext cx="1481328" cy="1481328"/>
          </a:xfrm>
          <a:prstGeom prst="rect">
            <a:avLst/>
          </a:prstGeom>
        </p:spPr>
      </p:pic>
      <p:pic>
        <p:nvPicPr>
          <p:cNvPr id="85" name="Image 26" descr="/home/user/netsci/data/projects/ups-package-flow/thumb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036565" y="25191720"/>
            <a:ext cx="1481328" cy="1481328"/>
          </a:xfrm>
          <a:prstGeom prst="rect">
            <a:avLst/>
          </a:prstGeom>
        </p:spPr>
      </p:pic>
      <p:pic>
        <p:nvPicPr>
          <p:cNvPr id="86" name="Image 27" descr="/home/user/netsci/data/projects/nyc-realestate-capital/thumb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722718" y="25191720"/>
            <a:ext cx="1481328" cy="1481328"/>
          </a:xfrm>
          <a:prstGeom prst="rect">
            <a:avLst/>
          </a:prstGeom>
        </p:spPr>
      </p:pic>
      <p:pic>
        <p:nvPicPr>
          <p:cNvPr id="87" name="Image 28" descr="/home/user/netsci/data/projects/nyc-realestate-portfolio/thumb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408872" y="25191720"/>
            <a:ext cx="1481328" cy="1481328"/>
          </a:xfrm>
          <a:prstGeom prst="rect">
            <a:avLst/>
          </a:prstGeom>
        </p:spPr>
      </p:pic>
      <p:sp>
        <p:nvSpPr>
          <p:cNvPr id="88" name="Text 57"/>
          <p:cNvSpPr/>
          <p:nvPr/>
        </p:nvSpPr>
        <p:spPr>
          <a:xfrm>
            <a:off x="685800" y="26810208"/>
            <a:ext cx="3520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poster was built with the same AI workflow it describes.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2026-08-06T18:11:47Z</dcterms:created>
  <dcterms:modified xsi:type="dcterms:W3CDTF">2026-08-06T18:11:47Z</dcterms:modified>
</cp:coreProperties>
</file>